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34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66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21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75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10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29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2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27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3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4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21CD5-FBAA-49C0-BDC6-BD15495B484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F9FB3-1433-42F3-A6AE-2F34E5C01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82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tterofcredit.biz/index.php/2018/10/06/mt-710-advice-of-a-third-banks-or-a-non-banks-documentary-credit/" TargetMode="External"/><Relationship Id="rId7" Type="http://schemas.openxmlformats.org/officeDocument/2006/relationships/hyperlink" Target="https://www.letterofcredit.biz/index.php/2018/10/11/mt-769-advice-of-reduction-or-release/" TargetMode="External"/><Relationship Id="rId2" Type="http://schemas.openxmlformats.org/officeDocument/2006/relationships/hyperlink" Target="https://www.letterofcredit.biz/index.php/2018/10/05/mt-700-swift-message-field-specification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tterofcredit.biz/index.php/2018/10/11/mt-768-acknowledgement-of-a-guarantee-standby-message/" TargetMode="External"/><Relationship Id="rId5" Type="http://schemas.openxmlformats.org/officeDocument/2006/relationships/hyperlink" Target="https://www.letterofcredit.biz/index.php/2018/10/11/mt-767-guarantee-standby-letter-of-credit-amendment/" TargetMode="External"/><Relationship Id="rId4" Type="http://schemas.openxmlformats.org/officeDocument/2006/relationships/hyperlink" Target="https://www.letterofcredit.biz/index.php/2018/10/11/mt-760-guarantee-standby-letter-of-credit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73487"/>
            <a:ext cx="12191999" cy="19697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200" dirty="0" smtClean="0"/>
              <a:t>SWIFT</a:t>
            </a:r>
          </a:p>
          <a:p>
            <a:pPr algn="ctr"/>
            <a:r>
              <a:rPr lang="en-US" dirty="0" smtClean="0"/>
              <a:t>is </a:t>
            </a:r>
            <a:r>
              <a:rPr lang="en-US" dirty="0"/>
              <a:t>the short form </a:t>
            </a:r>
            <a:r>
              <a:rPr lang="en-US" dirty="0" smtClean="0"/>
              <a:t>of</a:t>
            </a:r>
          </a:p>
          <a:p>
            <a:pPr algn="ctr"/>
            <a:r>
              <a:rPr lang="en-US" sz="3200" dirty="0" smtClean="0"/>
              <a:t>“</a:t>
            </a:r>
            <a:r>
              <a:rPr lang="en-US" sz="3200" dirty="0"/>
              <a:t>Society for Worldwide Interbank Financial Telecommunication”.</a:t>
            </a:r>
            <a:endParaRPr lang="en-I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711655"/>
            <a:ext cx="12192000" cy="3385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en-US" sz="2800" dirty="0"/>
              <a:t>In simple terms </a:t>
            </a:r>
            <a:r>
              <a:rPr lang="en-US" sz="2800" dirty="0" smtClean="0"/>
              <a:t>SWIFT </a:t>
            </a:r>
            <a:r>
              <a:rPr lang="en-US" sz="2800" dirty="0"/>
              <a:t>has two main roles in international financial transactions,</a:t>
            </a:r>
          </a:p>
          <a:p>
            <a:pPr fontAlgn="base"/>
            <a:endParaRPr lang="en-US" sz="2800" dirty="0" smtClean="0"/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800" dirty="0" smtClean="0"/>
              <a:t>Firstly</a:t>
            </a:r>
            <a:r>
              <a:rPr lang="en-US" sz="2800" dirty="0"/>
              <a:t>, SWIFT provides a secure, fast, and reliable </a:t>
            </a:r>
            <a:r>
              <a:rPr lang="en-US" sz="2800" b="1" dirty="0"/>
              <a:t>communication platform</a:t>
            </a:r>
            <a:r>
              <a:rPr lang="en-US" sz="2800" dirty="0"/>
              <a:t> with which financial institutions can communicate with each other.</a:t>
            </a:r>
          </a:p>
          <a:p>
            <a:pPr fontAlgn="base"/>
            <a:endParaRPr lang="en-US" sz="2800" dirty="0" smtClean="0"/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800" dirty="0" smtClean="0"/>
              <a:t>Secondly</a:t>
            </a:r>
            <a:r>
              <a:rPr lang="en-US" sz="2800" dirty="0"/>
              <a:t>, SWIFT establishes </a:t>
            </a:r>
            <a:r>
              <a:rPr lang="en-US" sz="2800" b="1" dirty="0"/>
              <a:t>standard message formats</a:t>
            </a:r>
            <a:r>
              <a:rPr lang="en-US" sz="2800" dirty="0"/>
              <a:t> which can be used in its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18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43943"/>
            <a:ext cx="12192000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Specifically, swift message types related to the letters of credit and bank guarantees are classified under Category 7 as shown below.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-25758" y="2240924"/>
            <a:ext cx="5473521" cy="1741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Category 7-Documentary Credits and </a:t>
            </a:r>
            <a:r>
              <a:rPr lang="en-US" b="1" dirty="0" smtClean="0"/>
              <a:t>Guarantees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Part 1-Documentary Credits</a:t>
            </a:r>
            <a:endParaRPr lang="en-US" dirty="0"/>
          </a:p>
          <a:p>
            <a:pPr fontAlgn="base"/>
            <a:r>
              <a:rPr lang="en-US" dirty="0">
                <a:hlinkClick r:id="rId2"/>
              </a:rPr>
              <a:t>MT 700-Issue of a Documentary Credit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MT 701-Issue of a Documentary Credit</a:t>
            </a:r>
          </a:p>
          <a:p>
            <a:r>
              <a:rPr lang="en-US" dirty="0">
                <a:hlinkClick r:id="rId3"/>
              </a:rPr>
              <a:t>MT 710-Advice of a Third Banks Documentary Credit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314422"/>
            <a:ext cx="46696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b="1" dirty="0"/>
              <a:t>Part 2-Guarantees</a:t>
            </a:r>
            <a:endParaRPr lang="en-US" dirty="0"/>
          </a:p>
          <a:p>
            <a:pPr fontAlgn="base"/>
            <a:r>
              <a:rPr lang="en-US" dirty="0">
                <a:hlinkClick r:id="rId4"/>
              </a:rPr>
              <a:t>760 Guarantee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5"/>
              </a:rPr>
              <a:t>767 Guarantee Amendment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6"/>
              </a:rPr>
              <a:t>768 Acknowledgement of a Guarantee Message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7"/>
              </a:rPr>
              <a:t>769 Advice of Reduction or Release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37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82276"/>
              </p:ext>
            </p:extLst>
          </p:nvPr>
        </p:nvGraphicFramePr>
        <p:xfrm>
          <a:off x="803537" y="2338846"/>
          <a:ext cx="9194007" cy="16764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064669"/>
                <a:gridCol w="3064669"/>
                <a:gridCol w="3064669"/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dirty="0">
                          <a:effectLst/>
                          <a:latin typeface="Helvetica" panose="020B0604020202020204" pitchFamily="34" charset="0"/>
                        </a:rPr>
                        <a:t>MT 700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1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1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  <a:latin typeface="Helvetica" panose="020B0604020202020204" pitchFamily="34" charset="0"/>
                        </a:rPr>
                        <a:t>Issue of a Documentary Credit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1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  <a:latin typeface="Helvetica" panose="020B0604020202020204" pitchFamily="34" charset="0"/>
                        </a:rPr>
                        <a:t>Indicates the terms and conditions of a documentary credit.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904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50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dirty="0">
                          <a:effectLst/>
                          <a:latin typeface="Helvetica" panose="020B0604020202020204" pitchFamily="34" charset="0"/>
                        </a:rPr>
                        <a:t>MT 701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20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  <a:latin typeface="Helvetica" panose="020B0604020202020204" pitchFamily="34" charset="0"/>
                        </a:rPr>
                        <a:t>Issue of a Documentary Credit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20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  <a:latin typeface="Helvetica" panose="020B0604020202020204" pitchFamily="34" charset="0"/>
                        </a:rPr>
                        <a:t>Continuation of an MT 700 for fields 45a, 46a, and 47a.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104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2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137759"/>
              </p:ext>
            </p:extLst>
          </p:nvPr>
        </p:nvGraphicFramePr>
        <p:xfrm>
          <a:off x="777779" y="4646955"/>
          <a:ext cx="9194007" cy="97536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064669"/>
                <a:gridCol w="3064669"/>
                <a:gridCol w="3064669"/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dirty="0">
                          <a:effectLst/>
                          <a:latin typeface="Helvetica" panose="020B0604020202020204" pitchFamily="34" charset="0"/>
                        </a:rPr>
                        <a:t>MT 710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2853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53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53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  <a:latin typeface="Helvetica" panose="020B0604020202020204" pitchFamily="34" charset="0"/>
                        </a:rPr>
                        <a:t>Advice of a Third Bank’s Documentary Credit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2853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1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1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  <a:latin typeface="Helvetica" panose="020B0604020202020204" pitchFamily="34" charset="0"/>
                        </a:rPr>
                        <a:t>Advises the receiver of the terms and conditions of a documentary credit.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881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1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1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8490" y="837127"/>
            <a:ext cx="5401031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smtClean="0"/>
              <a:t>Letter </a:t>
            </a:r>
            <a:r>
              <a:rPr lang="en-US" sz="3200" dirty="0"/>
              <a:t>o</a:t>
            </a:r>
            <a:r>
              <a:rPr lang="en-US" sz="3200" dirty="0" smtClean="0"/>
              <a:t>f Credit Message Types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6220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548115"/>
              </p:ext>
            </p:extLst>
          </p:nvPr>
        </p:nvGraphicFramePr>
        <p:xfrm>
          <a:off x="1498996" y="1989614"/>
          <a:ext cx="9194007" cy="40233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064669"/>
                <a:gridCol w="3064669"/>
                <a:gridCol w="3064669"/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dirty="0">
                          <a:effectLst/>
                          <a:latin typeface="Helvetica" panose="020B0604020202020204" pitchFamily="34" charset="0"/>
                        </a:rPr>
                        <a:t>MT 760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40D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D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D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>
                          <a:effectLst/>
                          <a:latin typeface="Helvetica" panose="020B0604020202020204" pitchFamily="34" charset="0"/>
                        </a:rPr>
                        <a:t>Guarantee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40D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  <a:latin typeface="Helvetica" panose="020B0604020202020204" pitchFamily="34" charset="0"/>
                        </a:rPr>
                        <a:t>Issues or requests the issue of a guarantee.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4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dirty="0">
                          <a:effectLst/>
                          <a:latin typeface="Helvetica" panose="020B0604020202020204" pitchFamily="34" charset="0"/>
                        </a:rPr>
                        <a:t>MT 767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D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D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D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dirty="0">
                          <a:effectLst/>
                          <a:latin typeface="Helvetica" panose="020B0604020202020204" pitchFamily="34" charset="0"/>
                        </a:rPr>
                        <a:t>Guarantee Amendment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D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  <a:latin typeface="Helvetica" panose="020B0604020202020204" pitchFamily="34" charset="0"/>
                        </a:rPr>
                        <a:t>Amends a guarantee which has been previously issued or requests the amendment of a guarantee which the sender has previously requested to be issued.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>
                          <a:effectLst/>
                          <a:latin typeface="Helvetica" panose="020B0604020202020204" pitchFamily="34" charset="0"/>
                        </a:rPr>
                        <a:t>MT 768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  <a:latin typeface="Helvetica" panose="020B0604020202020204" pitchFamily="34" charset="0"/>
                        </a:rPr>
                        <a:t>Acknowledgment of a Guarantee Message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D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  <a:latin typeface="Helvetica" panose="020B0604020202020204" pitchFamily="34" charset="0"/>
                        </a:rPr>
                        <a:t>Acknowledges the receipt of a guarantee message and may indicate that action has been taken according to instructions.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0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E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16676" y="759853"/>
            <a:ext cx="5551328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/>
              <a:t>Bank Guarantee Message Types </a:t>
            </a:r>
            <a:endParaRPr lang="en-IN" sz="3200" dirty="0" smtClean="0"/>
          </a:p>
        </p:txBody>
      </p:sp>
    </p:spTree>
    <p:extLst>
      <p:ext uri="{BB962C8B-B14F-4D97-AF65-F5344CB8AC3E}">
        <p14:creationId xmlns:p14="http://schemas.microsoft.com/office/powerpoint/2010/main" val="421184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215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2026-05-04T17:09:14Z</dcterms:created>
  <dcterms:modified xsi:type="dcterms:W3CDTF">2026-05-04T17:45:38Z</dcterms:modified>
</cp:coreProperties>
</file>